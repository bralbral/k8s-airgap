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Проект обеспечивает воспроизводимое развёртывание Kubernetes из переносимого комплекта артефактов. Инфраструктура считается подготовленной; затем создаются VM, кластер и прикладной сервис.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Образы и бинарники локальные. Полная блокировка Интернета отдельно не проверялась. Инфраструктура не входит в пять VM Kubernetes.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Слева внешний Ubuntu-хост, справа кластер. Узлы получают артефакты из Harbor и APT, время из NTP. Запросы API проходят через HAProxy, метрики идут во внешний мониторинг. Нижняя линия показывает путь пользователя к приложению.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Kubernetes устанавливается из bundle. APT proxy используется для эмуляции Debian-репозитория; его upstream требует Интернета. Дополнительные образы для BusyBox-демо не нужны.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MetalLB и HAProxy решают разные задачи. Виртуальная сеть доступна с инфраструктурного хоста; другим компьютерам требуется маршрут. HTTP-приложения не обслуживают HTTPS.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Стрелки верхнего ряда показывают передачу метрик. Query читает свежие данные у Receive и исторические через Store. Compact работает с блоками в MinIO. PostgreSQL хранит данные Grafana, а не метрики.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дашборде 18 панелей. Первые rate-графики заполняются после нескольких scrape. Видеозапись показывает свежий диапазон, чтобы не смешивать данные предыдущего кластера.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пять нод используют containerd и kubelet. Local-path не является CSI-драйвером. Диски control-plane — 15 ГиБ, worker — 20 ГиБ. Отдельных дисков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Каждый плейбук запускается после успешного завершения предыдущего. prepare-nodes включён в install-cluster. Артефакты находятся локально, образы поступают из Harbor.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Argo CD читает только deploy/argocd/apps/airgap-demo из main. Человек регистрирует Application; Kubernetes-манифесты применяет уже Argo CD. Образ из Docker Hub в манифесте перенаправляется containerd в Harbor.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BusyBox используется только как лёгкий HTTP-сервер. Это не интерфейс BusyBox. HTML находится в ConfigMap. Браузер должен открывать HTTP, не HTTPS.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Synced подтверждает соответствие Git. Healthy — готовность ресурсов. HTTP 200 подтверждает сетевой путь к странице, а метрика — наблюдаемость приложения.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Обновление файла ConfigMap на узлах не мгновенное. При записи ожидание показывается или ускоряется с подписью. Для приватного Git учётные данные задаются в Argo CD вне кадра.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Работа демонстрирует bootstrap и GitOps на подготовленной инфраструктуре. Отказоустойчивость всего стенда ограничена одним физическим хостом и локальными томами. Полная сетевая изоляция требует отдельного испытания.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DAC0"/>
                </a:solidFill>
                <a:latin typeface="DejaVu Sans"/>
              </a:defRPr>
            </a:pPr>
            <a:r>
              <a:t>ПРОЕКТ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CF2FB"/>
                </a:solidFill>
                <a:latin typeface="DejaVu Sans"/>
              </a:defRPr>
            </a:pPr>
            <a:r>
              <a:t>Kubernetes в закрытом контуре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DBDD2"/>
                </a:solidFill>
                <a:latin typeface="DejaVu Sans"/>
              </a:defRPr>
            </a:pPr>
            <a:r>
              <a:t>K8S AIRGAP  /  DEBIAN 12  /  KUBEADM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DAC0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ECF2FB"/>
                </a:solidFill>
                <a:latin typeface="DejaVu Sans"/>
              </a:defRPr>
            </a:pPr>
            <a:r>
              <a:t>Автоматизация установки</a:t>
            </a:r>
          </a:p>
          <a:p>
            <a:pPr>
              <a:spcAft>
                <a:spcPts val="1200"/>
              </a:spcAft>
              <a:defRPr sz="3600" b="1">
                <a:solidFill>
                  <a:srgbClr val="ECF2FB"/>
                </a:solidFill>
                <a:latin typeface="DejaVu Sans"/>
              </a:defRPr>
            </a:pPr>
            <a:r>
              <a:t>и доставка приложений через GitOps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343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52DAC0"/>
                </a:solidFill>
                <a:latin typeface="DejaVu Sans"/>
              </a:defRPr>
            </a:pPr>
            <a:r>
              <a:t>Debian 12  •  kubeadm  •  Ansible  •  Argo 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394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ADBDD2"/>
                </a:solidFill>
                <a:latin typeface="DejaVu Sans"/>
              </a:defRPr>
            </a:pPr>
            <a:r>
              <a:t>Результат: работающий кластер, мониторинг и HTTP-приложение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DAC0"/>
                </a:solidFill>
                <a:latin typeface="DejaVu Sans"/>
              </a:defRPr>
            </a:pPr>
            <a:r>
              <a:t>01 / ЗАДАЧА И РЕЗУЛЬТАТ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CF2FB"/>
                </a:solidFill>
                <a:latin typeface="DejaVu Sans"/>
              </a:defRPr>
            </a:pPr>
            <a:r>
              <a:t>Что представляет собой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DBDD2"/>
                </a:solidFill>
                <a:latin typeface="DejaVu Sans"/>
              </a:defRPr>
            </a:pPr>
            <a:r>
              <a:t>K8S AIRGAP  /  DEBIAN 12  /  KUBEADM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DAC0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2DAC0"/>
                </a:solidFill>
                <a:latin typeface="DejaVu Sans"/>
              </a:defRPr>
            </a:pPr>
            <a:r>
              <a:t>Задача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965960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F2FB"/>
                </a:solidFill>
                <a:latin typeface="DejaVu Sans"/>
              </a:defRPr>
            </a:pPr>
            <a:r>
              <a:t>Развернуть Kubernetes там, где публичные registry и репозитории недоступны узлам.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90088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2DAC0"/>
                </a:solidFill>
                <a:latin typeface="DejaVu Sans"/>
              </a:defRPr>
            </a:pPr>
            <a:r>
              <a:t>Подход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990088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F2FB"/>
                </a:solidFill>
                <a:latin typeface="DejaVu Sans"/>
              </a:defRPr>
            </a:pPr>
            <a:r>
              <a:t>Заранее подготовить bundle и внешние сервисы. Установить кластер через Ansible.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14216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2DAC0"/>
                </a:solidFill>
                <a:latin typeface="DejaVu Sans"/>
              </a:defRPr>
            </a:pPr>
            <a:r>
              <a:t>Результат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014216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F2FB"/>
                </a:solidFill>
                <a:latin typeface="DejaVu Sans"/>
              </a:defRPr>
            </a:pPr>
            <a:r>
              <a:t>Пять узлов, сеть, хранилище, мониторинг и Argo CD. Приложения доставляются из Git.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38344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2DAC0"/>
                </a:solidFill>
                <a:latin typeface="DejaVu Sans"/>
              </a:defRPr>
            </a:pPr>
            <a:r>
              <a:t>Граница стенда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038344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F2FB"/>
                </a:solidFill>
                <a:latin typeface="DejaVu Sans"/>
              </a:defRPr>
            </a:pPr>
            <a:r>
              <a:t>APT-прокси и доступный GitHub эмулируют внутренние репозитории.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DAC0"/>
                </a:solidFill>
                <a:latin typeface="DejaVu Sans"/>
              </a:defRPr>
            </a:pPr>
            <a:r>
              <a:t>02 / 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CF2FB"/>
                </a:solidFill>
                <a:latin typeface="DejaVu Sans"/>
              </a:defRPr>
            </a:pPr>
            <a:r>
              <a:t>Схема: инфраструктура и Kubernetes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DBDD2"/>
                </a:solidFill>
                <a:latin typeface="DejaVu Sans"/>
              </a:defRPr>
            </a:pPr>
            <a:r>
              <a:t>K8S AIRGAP  /  DEBIAN 12  /  KUBEADM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DAC0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ADBDD2"/>
                </a:solidFill>
                <a:latin typeface="DejaVu Sans"/>
              </a:defRPr>
            </a:pPr>
            <a:r>
              <a:t>ИНФРАСТРУКТУРА · 192.168.1.57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783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ADBDD2"/>
                </a:solidFill>
                <a:latin typeface="DejaVu Sans"/>
              </a:defRPr>
            </a:pPr>
            <a:r>
              <a:t>KUBERNETES · 10.10.0.0/24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286000"/>
            <a:ext cx="4069080" cy="960120"/>
          </a:xfrm>
          <a:prstGeom prst="rect">
            <a:avLst/>
          </a:prstGeom>
          <a:solidFill>
            <a:srgbClr val="14243A"/>
          </a:solidFill>
          <a:ln>
            <a:solidFill>
              <a:srgbClr val="31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359152"/>
            <a:ext cx="3849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DAC0"/>
                </a:solidFill>
                <a:latin typeface="DejaVu Sans"/>
              </a:defRPr>
            </a:pPr>
            <a:r>
              <a:t>Harbor / APT / NTP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724912"/>
            <a:ext cx="3849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CF2FB"/>
                </a:solidFill>
                <a:latin typeface="DejaVu Sans"/>
              </a:defRPr>
            </a:pPr>
            <a:r>
              <a:t>Образы · пакеты · время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611880"/>
            <a:ext cx="4069080" cy="960120"/>
          </a:xfrm>
          <a:prstGeom prst="rect">
            <a:avLst/>
          </a:prstGeom>
          <a:solidFill>
            <a:srgbClr val="14243A"/>
          </a:solidFill>
          <a:ln>
            <a:solidFill>
              <a:srgbClr val="31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3685032"/>
            <a:ext cx="3849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DAC0"/>
                </a:solidFill>
                <a:latin typeface="DejaVu Sans"/>
              </a:defRPr>
            </a:pPr>
            <a:r>
              <a:t>HAProxy :6443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4050791"/>
            <a:ext cx="3849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CF2FB"/>
                </a:solidFill>
                <a:latin typeface="DejaVu Sans"/>
              </a:defRPr>
            </a:pPr>
            <a:r>
              <a:t>Единый адрес Kubernetes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937760"/>
            <a:ext cx="4069080" cy="960120"/>
          </a:xfrm>
          <a:prstGeom prst="rect">
            <a:avLst/>
          </a:prstGeom>
          <a:solidFill>
            <a:srgbClr val="14243A"/>
          </a:solidFill>
          <a:ln>
            <a:solidFill>
              <a:srgbClr val="31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5010912"/>
            <a:ext cx="3849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DAC0"/>
                </a:solidFill>
                <a:latin typeface="DejaVu Sans"/>
              </a:defRPr>
            </a:pPr>
            <a:r>
              <a:t>Grafana / Thanos / MinIO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5376672"/>
            <a:ext cx="3849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CF2FB"/>
                </a:solidFill>
                <a:latin typeface="DejaVu Sans"/>
              </a:defRPr>
            </a:pPr>
            <a:r>
              <a:t>Визуализация и хранение метрик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2286000"/>
            <a:ext cx="4937760" cy="960120"/>
          </a:xfrm>
          <a:prstGeom prst="rect">
            <a:avLst/>
          </a:prstGeom>
          <a:solidFill>
            <a:srgbClr val="14243A"/>
          </a:solidFill>
          <a:ln>
            <a:solidFill>
              <a:srgbClr val="31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2359152"/>
            <a:ext cx="4718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DAC0"/>
                </a:solidFill>
                <a:latin typeface="DejaVu Sans"/>
              </a:defRPr>
            </a:pPr>
            <a:r>
              <a:t>Узлы Kubernetes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2724912"/>
            <a:ext cx="47183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CF2FB"/>
                </a:solidFill>
                <a:latin typeface="DejaVu Sans"/>
              </a:defRPr>
            </a:pPr>
            <a:r>
              <a:t>3 control-plane + 2 worker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3611880"/>
            <a:ext cx="4937760" cy="960120"/>
          </a:xfrm>
          <a:prstGeom prst="rect">
            <a:avLst/>
          </a:prstGeom>
          <a:solidFill>
            <a:srgbClr val="14243A"/>
          </a:solidFill>
          <a:ln>
            <a:solidFill>
              <a:srgbClr val="31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3685032"/>
            <a:ext cx="4718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DAC0"/>
                </a:solidFill>
                <a:latin typeface="DejaVu Sans"/>
              </a:defRPr>
            </a:pPr>
            <a:r>
              <a:t>Control-plane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4050791"/>
            <a:ext cx="47183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CF2FB"/>
                </a:solidFill>
                <a:latin typeface="DejaVu Sans"/>
              </a:defRPr>
            </a:pPr>
            <a:r>
              <a:t>API server · scheduler · controller · etcd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4937760"/>
            <a:ext cx="4937760" cy="960120"/>
          </a:xfrm>
          <a:prstGeom prst="rect">
            <a:avLst/>
          </a:prstGeom>
          <a:solidFill>
            <a:srgbClr val="14243A"/>
          </a:solidFill>
          <a:ln>
            <a:solidFill>
              <a:srgbClr val="31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7688" y="5010912"/>
            <a:ext cx="4718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DAC0"/>
                </a:solidFill>
                <a:latin typeface="DejaVu Sans"/>
              </a:defRPr>
            </a:pPr>
            <a:r>
              <a:t>Worker / приложения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688" y="5376672"/>
            <a:ext cx="47183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CF2FB"/>
                </a:solidFill>
                <a:latin typeface="DejaVu Sans"/>
              </a:defRPr>
            </a:pPr>
            <a:r>
              <a:t>Argo CD · Demo · Prometheus Agent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4754880" y="2761488"/>
            <a:ext cx="1783080" cy="0"/>
          </a:xfrm>
          <a:prstGeom prst="line">
            <a:avLst/>
          </a:prstGeom>
          <a:ln w="22860">
            <a:solidFill>
              <a:srgbClr val="52DA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0" y="2423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ADBDD2"/>
                </a:solidFill>
                <a:latin typeface="DejaVu Sans"/>
              </a:defRPr>
            </a:pPr>
            <a:r>
              <a:t>запросы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4880" y="4087368"/>
            <a:ext cx="1783080" cy="0"/>
          </a:xfrm>
          <a:prstGeom prst="line">
            <a:avLst/>
          </a:prstGeom>
          <a:ln w="22860">
            <a:solidFill>
              <a:srgbClr val="52DA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74920" y="3749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ADBDD2"/>
                </a:solidFill>
                <a:latin typeface="DejaVu Sans"/>
              </a:defRPr>
            </a:pPr>
            <a:r>
              <a:t>TCP API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4754880" y="5413248"/>
            <a:ext cx="1783080" cy="0"/>
          </a:xfrm>
          <a:prstGeom prst="line">
            <a:avLst/>
          </a:prstGeom>
          <a:ln w="22860">
            <a:solidFill>
              <a:srgbClr val="52DA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0" y="5074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ADBDD2"/>
                </a:solidFill>
                <a:latin typeface="DejaVu Sans"/>
              </a:defRPr>
            </a:pPr>
            <a:r>
              <a:t>метрики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DAC0"/>
                </a:solidFill>
                <a:latin typeface="DejaVu Sans"/>
              </a:defRPr>
            </a:pPr>
            <a:r>
              <a:t>03 / СЕРВИСЫ ДОСТАВКИ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CF2FB"/>
                </a:solidFill>
                <a:latin typeface="DejaVu Sans"/>
              </a:defRPr>
            </a:pPr>
            <a:r>
              <a:t>Артефакты: что получает кластер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DBDD2"/>
                </a:solidFill>
                <a:latin typeface="DejaVu Sans"/>
              </a:defRPr>
            </a:pPr>
            <a:r>
              <a:t>K8S AIRGAP  /  DEBIAN 12  /  KUBEADM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DAC0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2DAC0"/>
                </a:solidFill>
                <a:latin typeface="DejaVu Sans"/>
              </a:defRPr>
            </a:pPr>
            <a:r>
              <a:t>GitHub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965960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F2FB"/>
                </a:solidFill>
                <a:latin typeface="DejaVu Sans"/>
              </a:defRPr>
            </a:pPr>
            <a:r>
              <a:t>Загружает готовые upstream-файлы, собирает release и контрольные суммы.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90088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2DAC0"/>
                </a:solidFill>
                <a:latin typeface="DejaVu Sans"/>
              </a:defRPr>
            </a:pPr>
            <a:r>
              <a:t>Bundle / Ansible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990088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F2FB"/>
                </a:solidFill>
                <a:latin typeface="DejaVu Sans"/>
              </a:defRPr>
            </a:pPr>
            <a:r>
              <a:t>Передаёт на узлы бинарники, .deb, CNI plugins и charts. Проверяет целостность.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14216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2DAC0"/>
                </a:solidFill>
                <a:latin typeface="DejaVu Sans"/>
              </a:defRPr>
            </a:pPr>
            <a:r>
              <a:t>Harbor :8080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014216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F2FB"/>
                </a:solidFill>
                <a:latin typeface="DejaVu Sans"/>
              </a:defRPr>
            </a:pPr>
            <a:r>
              <a:t>Хранит образы Kubernetes и приложений; containerd использует локальные mirrors.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38344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2DAC0"/>
                </a:solidFill>
                <a:latin typeface="DejaVu Sans"/>
              </a:defRPr>
            </a:pPr>
            <a:r>
              <a:t>APT :8081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038344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F2FB"/>
                </a:solidFill>
                <a:latin typeface="DejaVu Sans"/>
              </a:defRPr>
            </a:pPr>
            <a:r>
              <a:t>Nginx-прокси Debian. Для узлов это внутренний источник стандартных пакетов.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DAC0"/>
                </a:solidFill>
                <a:latin typeface="DejaVu Sans"/>
              </a:defRPr>
            </a:pPr>
            <a:r>
              <a:t>04 / ИНФРАСТРУКТУРА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CF2FB"/>
                </a:solidFill>
                <a:latin typeface="DejaVu Sans"/>
              </a:defRPr>
            </a:pPr>
            <a:r>
              <a:t>Сеть и время: роли сервисов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DBDD2"/>
                </a:solidFill>
                <a:latin typeface="DejaVu Sans"/>
              </a:defRPr>
            </a:pPr>
            <a:r>
              <a:t>K8S AIRGAP  /  DEBIAN 12  /  KUBEADM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DAC0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2DAC0"/>
                </a:solidFill>
                <a:latin typeface="DejaVu Sans"/>
              </a:defRPr>
            </a:pPr>
            <a:r>
              <a:t>HAProxy :6443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965960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F2FB"/>
                </a:solidFill>
                <a:latin typeface="DejaVu Sans"/>
              </a:defRPr>
            </a:pPr>
            <a:r>
              <a:t>Балансирует API-запросы между тремя control-plane. Запускается до kubeadm.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90088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2DAC0"/>
                </a:solidFill>
                <a:latin typeface="DejaVu Sans"/>
              </a:defRPr>
            </a:pPr>
            <a:r>
              <a:t>NTP :123/udp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990088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F2FB"/>
                </a:solidFill>
                <a:latin typeface="DejaVu Sans"/>
              </a:defRPr>
            </a:pPr>
            <a:r>
              <a:t>Chrony раздаёт время инфраструктурного хоста всем виртуальным машинам.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14216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2DAC0"/>
                </a:solidFill>
                <a:latin typeface="DejaVu Sans"/>
              </a:defRPr>
            </a:pPr>
            <a:r>
              <a:t>Cilium + CoreDNS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014216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F2FB"/>
                </a:solidFill>
                <a:latin typeface="DejaVu Sans"/>
              </a:defRPr>
            </a:pPr>
            <a:r>
              <a:t>Сеть между pod’ами и DNS внутри Kubernetes; kube-proxy обслуживает Services.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38344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2DAC0"/>
                </a:solidFill>
                <a:latin typeface="DejaVu Sans"/>
              </a:defRPr>
            </a:pPr>
            <a:r>
              <a:t>MetalLB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038344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F2FB"/>
                </a:solidFill>
                <a:latin typeface="DejaVu Sans"/>
              </a:defRPr>
            </a:pPr>
            <a:r>
              <a:t>Выдаёт адреса LoadBalancer: Argo CD — .240, демо — .241. NodePort не используется.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DAC0"/>
                </a:solidFill>
                <a:latin typeface="DejaVu Sans"/>
              </a:defRPr>
            </a:pPr>
            <a:r>
              <a:t>05 / ПОТОКИ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CF2FB"/>
                </a:solidFill>
                <a:latin typeface="DejaVu Sans"/>
              </a:defRPr>
            </a:pPr>
            <a:r>
              <a:t>Схема мониторинга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DBDD2"/>
                </a:solidFill>
                <a:latin typeface="DejaVu Sans"/>
              </a:defRPr>
            </a:pPr>
            <a:r>
              <a:t>K8S AIRGAP  /  DEBIAN 12  /  KUBEADM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DAC0"/>
                </a:solidFill>
                <a:latin typeface="DejaVu Sans"/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011680"/>
            <a:ext cx="2743200" cy="960120"/>
          </a:xfrm>
          <a:prstGeom prst="rect">
            <a:avLst/>
          </a:prstGeom>
          <a:solidFill>
            <a:srgbClr val="14243A"/>
          </a:solidFill>
          <a:ln>
            <a:solidFill>
              <a:srgbClr val="31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084832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DAC0"/>
                </a:solidFill>
                <a:latin typeface="DejaVu Sans"/>
              </a:defRPr>
            </a:pPr>
            <a:r>
              <a:t>Exporters / cAdvisor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450592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CF2FB"/>
                </a:solidFill>
                <a:latin typeface="DejaVu Sans"/>
              </a:defRPr>
            </a:pPr>
            <a:r>
              <a:t>Метрики ОС и Kubernetes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2011680"/>
            <a:ext cx="3017520" cy="960120"/>
          </a:xfrm>
          <a:prstGeom prst="rect">
            <a:avLst/>
          </a:prstGeom>
          <a:solidFill>
            <a:srgbClr val="14243A"/>
          </a:solidFill>
          <a:ln>
            <a:solidFill>
              <a:srgbClr val="31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41648" y="2084832"/>
            <a:ext cx="27980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DAC0"/>
                </a:solidFill>
                <a:latin typeface="DejaVu Sans"/>
              </a:defRPr>
            </a:pPr>
            <a:r>
              <a:t>Prometheus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1648" y="2450592"/>
            <a:ext cx="27980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CF2FB"/>
                </a:solidFill>
                <a:latin typeface="DejaVu Sans"/>
              </a:defRPr>
            </a:pPr>
            <a:r>
              <a:t>Сбор · WAL PVC 2 ГиБ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011680"/>
            <a:ext cx="3383280" cy="960120"/>
          </a:xfrm>
          <a:prstGeom prst="rect">
            <a:avLst/>
          </a:prstGeom>
          <a:solidFill>
            <a:srgbClr val="14243A"/>
          </a:solidFill>
          <a:ln>
            <a:solidFill>
              <a:srgbClr val="31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084832"/>
            <a:ext cx="3163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DAC0"/>
                </a:solidFill>
                <a:latin typeface="DejaVu Sans"/>
              </a:defRPr>
            </a:pPr>
            <a:r>
              <a:t>Thanos Receive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450592"/>
            <a:ext cx="3163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CF2FB"/>
                </a:solidFill>
                <a:latin typeface="DejaVu Sans"/>
              </a:defRPr>
            </a:pPr>
            <a:r>
              <a:t>remote_write :10908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37560" y="2487168"/>
            <a:ext cx="594360" cy="0"/>
          </a:xfrm>
          <a:prstGeom prst="line">
            <a:avLst/>
          </a:prstGeom>
          <a:ln w="22860">
            <a:solidFill>
              <a:srgbClr val="52DA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49440" y="2487168"/>
            <a:ext cx="1188720" cy="0"/>
          </a:xfrm>
          <a:prstGeom prst="line">
            <a:avLst/>
          </a:prstGeom>
          <a:ln w="22860">
            <a:solidFill>
              <a:srgbClr val="52DA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94360" y="3840480"/>
            <a:ext cx="2743200" cy="960120"/>
          </a:xfrm>
          <a:prstGeom prst="rect">
            <a:avLst/>
          </a:prstGeom>
          <a:solidFill>
            <a:srgbClr val="14243A"/>
          </a:solidFill>
          <a:ln>
            <a:solidFill>
              <a:srgbClr val="31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913632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DAC0"/>
                </a:solidFill>
                <a:latin typeface="DejaVu Sans"/>
              </a:defRPr>
            </a:pPr>
            <a:r>
              <a:t>Grafana :3000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279392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CF2FB"/>
                </a:solidFill>
                <a:latin typeface="DejaVu Sans"/>
              </a:defRPr>
            </a:pPr>
            <a:r>
              <a:t>Дашборды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3840480"/>
            <a:ext cx="3017520" cy="960120"/>
          </a:xfrm>
          <a:prstGeom prst="rect">
            <a:avLst/>
          </a:prstGeom>
          <a:solidFill>
            <a:srgbClr val="14243A"/>
          </a:solidFill>
          <a:ln>
            <a:solidFill>
              <a:srgbClr val="31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41648" y="3913632"/>
            <a:ext cx="27980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DAC0"/>
                </a:solidFill>
                <a:latin typeface="DejaVu Sans"/>
              </a:defRPr>
            </a:pPr>
            <a:r>
              <a:t>Thanos 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1648" y="4279392"/>
            <a:ext cx="27980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CF2FB"/>
                </a:solidFill>
                <a:latin typeface="DejaVu Sans"/>
              </a:defRPr>
            </a:pPr>
            <a:r>
              <a:t>Prometheus API :10902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3840480"/>
            <a:ext cx="3383280" cy="960120"/>
          </a:xfrm>
          <a:prstGeom prst="rect">
            <a:avLst/>
          </a:prstGeom>
          <a:solidFill>
            <a:srgbClr val="14243A"/>
          </a:solidFill>
          <a:ln>
            <a:solidFill>
              <a:srgbClr val="31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3913632"/>
            <a:ext cx="3163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DAC0"/>
                </a:solidFill>
                <a:latin typeface="DejaVu Sans"/>
              </a:defRPr>
            </a:pPr>
            <a:r>
              <a:t>MinIO :9000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4279392"/>
            <a:ext cx="3163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CF2FB"/>
                </a:solidFill>
                <a:latin typeface="DejaVu Sans"/>
              </a:defRPr>
            </a:pPr>
            <a:r>
              <a:t>Блоки метрик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829800" y="2971800"/>
            <a:ext cx="0" cy="868680"/>
          </a:xfrm>
          <a:prstGeom prst="line">
            <a:avLst/>
          </a:prstGeom>
          <a:ln w="22860">
            <a:solidFill>
              <a:srgbClr val="52DA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337560" y="4315968"/>
            <a:ext cx="594360" cy="0"/>
          </a:xfrm>
          <a:prstGeom prst="line">
            <a:avLst/>
          </a:prstGeom>
          <a:ln w="22860">
            <a:solidFill>
              <a:srgbClr val="52DA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440680" y="2971800"/>
            <a:ext cx="2971800" cy="868680"/>
          </a:xfrm>
          <a:prstGeom prst="line">
            <a:avLst/>
          </a:prstGeom>
          <a:ln w="22860">
            <a:solidFill>
              <a:srgbClr val="52DA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76072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ADBDD2"/>
                </a:solidFill>
                <a:latin typeface="DejaVu Sans"/>
              </a:defRPr>
            </a:pPr>
            <a:r>
              <a:t>свежие данные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5349240"/>
            <a:ext cx="2743200" cy="822960"/>
          </a:xfrm>
          <a:prstGeom prst="rect">
            <a:avLst/>
          </a:prstGeom>
          <a:solidFill>
            <a:srgbClr val="14243A"/>
          </a:solidFill>
          <a:ln>
            <a:solidFill>
              <a:srgbClr val="31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5422392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DAC0"/>
                </a:solidFill>
                <a:latin typeface="DejaVu Sans"/>
              </a:defRPr>
            </a:pPr>
            <a:r>
              <a:t>PostgreSQL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5788152"/>
            <a:ext cx="2523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CF2FB"/>
                </a:solidFill>
                <a:latin typeface="DejaVu Sans"/>
              </a:defRPr>
            </a:pPr>
            <a:r>
              <a:t>Настройки Grafana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20" y="5349240"/>
            <a:ext cx="3017520" cy="822960"/>
          </a:xfrm>
          <a:prstGeom prst="rect">
            <a:avLst/>
          </a:prstGeom>
          <a:solidFill>
            <a:srgbClr val="14243A"/>
          </a:solidFill>
          <a:ln>
            <a:solidFill>
              <a:srgbClr val="31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41648" y="5422392"/>
            <a:ext cx="27980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DAC0"/>
                </a:solidFill>
                <a:latin typeface="DejaVu Sans"/>
              </a:defRPr>
            </a:pPr>
            <a:r>
              <a:t>Thanos Store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41648" y="5788152"/>
            <a:ext cx="27980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CF2FB"/>
                </a:solidFill>
                <a:latin typeface="DejaVu Sans"/>
              </a:defRPr>
            </a:pPr>
            <a:r>
              <a:t>Чтение истории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5349240"/>
            <a:ext cx="3383280" cy="822960"/>
          </a:xfrm>
          <a:prstGeom prst="rect">
            <a:avLst/>
          </a:prstGeom>
          <a:solidFill>
            <a:srgbClr val="14243A"/>
          </a:solidFill>
          <a:ln>
            <a:solidFill>
              <a:srgbClr val="31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47888" y="5422392"/>
            <a:ext cx="3163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DAC0"/>
                </a:solidFill>
                <a:latin typeface="DejaVu Sans"/>
              </a:defRPr>
            </a:pPr>
            <a:r>
              <a:t>Thanos Compact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7888" y="5788152"/>
            <a:ext cx="3163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CF2FB"/>
                </a:solidFill>
                <a:latin typeface="DejaVu Sans"/>
              </a:defRPr>
            </a:pPr>
            <a:r>
              <a:t>Объединение блоков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965960" y="4800600"/>
            <a:ext cx="0" cy="548640"/>
          </a:xfrm>
          <a:prstGeom prst="line">
            <a:avLst/>
          </a:prstGeom>
          <a:ln w="22860">
            <a:solidFill>
              <a:srgbClr val="52DA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440680" y="4800600"/>
            <a:ext cx="0" cy="548640"/>
          </a:xfrm>
          <a:prstGeom prst="line">
            <a:avLst/>
          </a:prstGeom>
          <a:ln w="22860">
            <a:solidFill>
              <a:srgbClr val="52DA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949440" y="4617720"/>
            <a:ext cx="1188720" cy="1143000"/>
          </a:xfrm>
          <a:prstGeom prst="line">
            <a:avLst/>
          </a:prstGeom>
          <a:ln w="22860">
            <a:solidFill>
              <a:srgbClr val="52DA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829800" y="4800600"/>
            <a:ext cx="0" cy="548640"/>
          </a:xfrm>
          <a:prstGeom prst="line">
            <a:avLst/>
          </a:prstGeom>
          <a:ln w="22860">
            <a:solidFill>
              <a:srgbClr val="52DA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DAC0"/>
                </a:solidFill>
                <a:latin typeface="DejaVu Sans"/>
              </a:defRPr>
            </a:pPr>
            <a:r>
              <a:t>06 / СЕРВИСЫ МОНИТОРИНГА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CF2FB"/>
                </a:solidFill>
                <a:latin typeface="DejaVu Sans"/>
              </a:defRPr>
            </a:pPr>
            <a:r>
              <a:t>Мониторинг: назначение компонентов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DBDD2"/>
                </a:solidFill>
                <a:latin typeface="DejaVu Sans"/>
              </a:defRPr>
            </a:pPr>
            <a:r>
              <a:t>K8S AIRGAP  /  DEBIAN 12  /  KUBEADM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DAC0"/>
                </a:solidFill>
                <a:latin typeface="DejaVu San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2DAC0"/>
                </a:solidFill>
                <a:latin typeface="DejaVu Sans"/>
              </a:defRPr>
            </a:pPr>
            <a:r>
              <a:t>Prometheus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965960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F2FB"/>
                </a:solidFill>
                <a:latin typeface="DejaVu Sans"/>
              </a:defRPr>
            </a:pPr>
            <a:r>
              <a:t>Собирает метрики и отправляет remote_write; полноценного Prometheus TSDB в кластере нет.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90088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2DAC0"/>
                </a:solidFill>
                <a:latin typeface="DejaVu Sans"/>
              </a:defRPr>
            </a:pPr>
            <a:r>
              <a:t>Thanos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990088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F2FB"/>
                </a:solidFill>
                <a:latin typeface="DejaVu Sans"/>
              </a:defRPr>
            </a:pPr>
            <a:r>
              <a:t>Receive принимает; Store читает историю; Query объединяет; Compact обслуживает блоки.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14216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2DAC0"/>
                </a:solidFill>
                <a:latin typeface="DejaVu Sans"/>
              </a:defRPr>
            </a:pPr>
            <a:r>
              <a:t>MinIO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014216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F2FB"/>
                </a:solidFill>
                <a:latin typeface="DejaVu Sans"/>
              </a:defRPr>
            </a:pPr>
            <a:r>
              <a:t>S3-совместимое хранилище блоков Thanos, bucket thanos.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38344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2DAC0"/>
                </a:solidFill>
                <a:latin typeface="DejaVu Sans"/>
              </a:defRPr>
            </a:pPr>
            <a:r>
              <a:t>Grafana + 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038344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F2FB"/>
                </a:solidFill>
                <a:latin typeface="DejaVu Sans"/>
              </a:defRPr>
            </a:pPr>
            <a:r>
              <a:t>Grafana строит графики. PostgreSQL хранит пользователей, настройки и дашборды.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DAC0"/>
                </a:solidFill>
                <a:latin typeface="DejaVu Sans"/>
              </a:defRPr>
            </a:pPr>
            <a:r>
              <a:t>07 / СОСТАВ ПЛАТФОРМЫ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CF2FB"/>
                </a:solidFill>
                <a:latin typeface="DejaVu Sans"/>
              </a:defRPr>
            </a:pPr>
            <a:r>
              <a:t>Что установлено внутри Kubernetes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DBDD2"/>
                </a:solidFill>
                <a:latin typeface="DejaVu Sans"/>
              </a:defRPr>
            </a:pPr>
            <a:r>
              <a:t>K8S AIRGAP  /  DEBIAN 12  /  KUBEADM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DAC0"/>
                </a:solidFill>
                <a:latin typeface="DejaVu San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2DAC0"/>
                </a:solidFill>
                <a:latin typeface="DejaVu Sans"/>
              </a:defRPr>
            </a:pPr>
            <a:r>
              <a:t>Control-plane ×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965960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F2FB"/>
                </a:solidFill>
                <a:latin typeface="DejaVu Sans"/>
              </a:defRPr>
            </a:pPr>
            <a:r>
              <a:t>kube-apiserver, scheduler, controller-manager и stacked etcd. Debian 12, 2 CPU / 2 ГиБ.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90088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2DAC0"/>
                </a:solidFill>
                <a:latin typeface="DejaVu Sans"/>
              </a:defRPr>
            </a:pPr>
            <a:r>
              <a:t>Worker ×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990088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F2FB"/>
                </a:solidFill>
                <a:latin typeface="DejaVu Sans"/>
              </a:defRPr>
            </a:pPr>
            <a:r>
              <a:t>Прикладные pod’ы и платформенные сервисы. Debian 12, 3 CPU / 3 ГиБ.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14216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2DAC0"/>
                </a:solidFill>
                <a:latin typeface="DejaVu Sans"/>
              </a:defRPr>
            </a:pPr>
            <a:r>
              <a:t>Local-path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014216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F2FB"/>
                </a:solidFill>
                <a:latin typeface="DejaVu Sans"/>
              </a:defRPr>
            </a:pPr>
            <a:r>
              <a:t>Default StorageClass на системных дисках worker. Локальные тома без репликации.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38344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2DAC0"/>
                </a:solidFill>
                <a:latin typeface="DejaVu Sans"/>
              </a:defRPr>
            </a:pPr>
            <a:r>
              <a:t>Argo 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038344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F2FB"/>
                </a:solidFill>
                <a:latin typeface="DejaVu Sans"/>
              </a:defRPr>
            </a:pPr>
            <a:r>
              <a:t>Отслеживает Git и приводит Deployment, Service и ConfigMap к заданному состоянию.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DAC0"/>
                </a:solidFill>
                <a:latin typeface="DejaVu Sans"/>
              </a:defRPr>
            </a:pPr>
            <a:r>
              <a:t>08 / ANSIBLE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CF2FB"/>
                </a:solidFill>
                <a:latin typeface="DejaVu Sans"/>
              </a:defRPr>
            </a:pPr>
            <a:r>
              <a:t>Установка: от VM до готовой платформы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DBDD2"/>
                </a:solidFill>
                <a:latin typeface="DejaVu Sans"/>
              </a:defRPr>
            </a:pPr>
            <a:r>
              <a:t>K8S AIRGAP  /  DEBIAN 12  /  KUBEADM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DAC0"/>
                </a:solidFill>
                <a:latin typeface="DejaVu Sans"/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48840"/>
            <a:ext cx="3474720" cy="1051560"/>
          </a:xfrm>
          <a:prstGeom prst="rect">
            <a:avLst/>
          </a:prstGeom>
          <a:solidFill>
            <a:srgbClr val="14243A"/>
          </a:solidFill>
          <a:ln>
            <a:solidFill>
              <a:srgbClr val="31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221992"/>
            <a:ext cx="32552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DAC0"/>
                </a:solidFill>
                <a:latin typeface="DejaVu Sans"/>
              </a:defRPr>
            </a:pPr>
            <a:r>
              <a:t>1. create-vms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87752"/>
            <a:ext cx="3255263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CF2FB"/>
                </a:solidFill>
                <a:latin typeface="DejaVu Sans"/>
              </a:defRPr>
            </a:pPr>
            <a:r>
              <a:t>Сеть, VM, inventory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697480"/>
            <a:ext cx="365760" cy="0"/>
          </a:xfrm>
          <a:prstGeom prst="line">
            <a:avLst/>
          </a:prstGeom>
          <a:ln w="22860">
            <a:solidFill>
              <a:srgbClr val="52DA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26280" y="2148840"/>
            <a:ext cx="3474720" cy="1051560"/>
          </a:xfrm>
          <a:prstGeom prst="rect">
            <a:avLst/>
          </a:prstGeom>
          <a:solidFill>
            <a:srgbClr val="14243A"/>
          </a:solidFill>
          <a:ln>
            <a:solidFill>
              <a:srgbClr val="31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221992"/>
            <a:ext cx="32552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DAC0"/>
                </a:solidFill>
                <a:latin typeface="DejaVu Sans"/>
              </a:defRPr>
            </a:pPr>
            <a:r>
              <a:t>2. install-cluster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587752"/>
            <a:ext cx="3255263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CF2FB"/>
                </a:solidFill>
                <a:latin typeface="DejaVu Sans"/>
              </a:defRPr>
            </a:pPr>
            <a:r>
              <a:t>ОС, runtime, kubeadm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01000" y="2697480"/>
            <a:ext cx="365760" cy="0"/>
          </a:xfrm>
          <a:prstGeom prst="line">
            <a:avLst/>
          </a:prstGeom>
          <a:ln w="22860">
            <a:solidFill>
              <a:srgbClr val="52DA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366760" y="2148840"/>
            <a:ext cx="3474720" cy="1051560"/>
          </a:xfrm>
          <a:prstGeom prst="rect">
            <a:avLst/>
          </a:prstGeom>
          <a:solidFill>
            <a:srgbClr val="14243A"/>
          </a:solidFill>
          <a:ln>
            <a:solidFill>
              <a:srgbClr val="31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2221992"/>
            <a:ext cx="32552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DAC0"/>
                </a:solidFill>
                <a:latin typeface="DejaVu Sans"/>
              </a:defRPr>
            </a:pPr>
            <a:r>
              <a:t>3. configure-cilium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587752"/>
            <a:ext cx="3255263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CF2FB"/>
                </a:solidFill>
                <a:latin typeface="DejaVu Sans"/>
              </a:defRPr>
            </a:pPr>
            <a:r>
              <a:t>Сеть pod и Ready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657600"/>
            <a:ext cx="3474720" cy="1051560"/>
          </a:xfrm>
          <a:prstGeom prst="rect">
            <a:avLst/>
          </a:prstGeom>
          <a:solidFill>
            <a:srgbClr val="14243A"/>
          </a:solidFill>
          <a:ln>
            <a:solidFill>
              <a:srgbClr val="31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730752"/>
            <a:ext cx="32552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DAC0"/>
                </a:solidFill>
                <a:latin typeface="DejaVu Sans"/>
              </a:defRPr>
            </a:pPr>
            <a:r>
              <a:t>4. install-storage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096512"/>
            <a:ext cx="3255263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CF2FB"/>
                </a:solidFill>
                <a:latin typeface="DejaVu Sans"/>
              </a:defRPr>
            </a:pPr>
            <a:r>
              <a:t>Local-path / PVC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60520" y="4206240"/>
            <a:ext cx="365760" cy="0"/>
          </a:xfrm>
          <a:prstGeom prst="line">
            <a:avLst/>
          </a:prstGeom>
          <a:ln w="22860">
            <a:solidFill>
              <a:srgbClr val="52DA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526280" y="3657600"/>
            <a:ext cx="3474720" cy="1051560"/>
          </a:xfrm>
          <a:prstGeom prst="rect">
            <a:avLst/>
          </a:prstGeom>
          <a:solidFill>
            <a:srgbClr val="14243A"/>
          </a:solidFill>
          <a:ln>
            <a:solidFill>
              <a:srgbClr val="31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8" y="3730752"/>
            <a:ext cx="32552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DAC0"/>
                </a:solidFill>
                <a:latin typeface="DejaVu Sans"/>
              </a:defRPr>
            </a:pPr>
            <a:r>
              <a:t>5. install-loadbalancer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4096512"/>
            <a:ext cx="3255263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CF2FB"/>
                </a:solidFill>
                <a:latin typeface="DejaVu Sans"/>
              </a:defRPr>
            </a:pPr>
            <a:r>
              <a:t>MetalLB L2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01000" y="4206240"/>
            <a:ext cx="365760" cy="0"/>
          </a:xfrm>
          <a:prstGeom prst="line">
            <a:avLst/>
          </a:prstGeom>
          <a:ln w="22860">
            <a:solidFill>
              <a:srgbClr val="52DA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366760" y="3657600"/>
            <a:ext cx="3474720" cy="1051560"/>
          </a:xfrm>
          <a:prstGeom prst="rect">
            <a:avLst/>
          </a:prstGeom>
          <a:solidFill>
            <a:srgbClr val="14243A"/>
          </a:solidFill>
          <a:ln>
            <a:solidFill>
              <a:srgbClr val="31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76488" y="3730752"/>
            <a:ext cx="32552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DAC0"/>
                </a:solidFill>
                <a:latin typeface="DejaVu Sans"/>
              </a:defRPr>
            </a:pPr>
            <a:r>
              <a:t>6. install-monitoring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4096512"/>
            <a:ext cx="3255263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CF2FB"/>
                </a:solidFill>
                <a:latin typeface="DejaVu Sans"/>
              </a:defRPr>
            </a:pPr>
            <a:r>
              <a:t>Agent и exporters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257800"/>
            <a:ext cx="11155680" cy="868680"/>
          </a:xfrm>
          <a:prstGeom prst="rect">
            <a:avLst/>
          </a:prstGeom>
          <a:solidFill>
            <a:srgbClr val="14243A"/>
          </a:solidFill>
          <a:ln>
            <a:solidFill>
              <a:srgbClr val="52DA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" y="5330952"/>
            <a:ext cx="10936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DAC0"/>
                </a:solidFill>
                <a:latin typeface="DejaVu Sans"/>
              </a:defRPr>
            </a:pPr>
            <a:r>
              <a:t>7. install-argocd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" y="5696712"/>
            <a:ext cx="10936224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CF2FB"/>
                </a:solidFill>
                <a:latin typeface="DejaVu Sans"/>
              </a:defRPr>
            </a:pPr>
            <a:r>
              <a:t>Платформа готова к доставке приложений из Git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DAC0"/>
                </a:solidFill>
                <a:latin typeface="DejaVu Sans"/>
              </a:defRPr>
            </a:pPr>
            <a:r>
              <a:t>09 / ОТ GIT ДО HTTP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CF2FB"/>
                </a:solidFill>
                <a:latin typeface="DejaVu Sans"/>
              </a:defRPr>
            </a:pPr>
            <a:r>
              <a:t>Схема GitOps: как появляется приложение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DBDD2"/>
                </a:solidFill>
                <a:latin typeface="DejaVu Sans"/>
              </a:defRPr>
            </a:pPr>
            <a:r>
              <a:t>K8S AIRGAP  /  DEBIAN 12  /  KUBEADM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DAC0"/>
                </a:solidFill>
                <a:latin typeface="DejaVu Sans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057400"/>
            <a:ext cx="3246120" cy="960120"/>
          </a:xfrm>
          <a:prstGeom prst="rect">
            <a:avLst/>
          </a:prstGeom>
          <a:solidFill>
            <a:srgbClr val="14243A"/>
          </a:solidFill>
          <a:ln>
            <a:solidFill>
              <a:srgbClr val="31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30552"/>
            <a:ext cx="30266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DAC0"/>
                </a:solidFill>
                <a:latin typeface="DejaVu Sans"/>
              </a:defRPr>
            </a:pPr>
            <a:r>
              <a:t>Этот Git-репозиторий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496312"/>
            <a:ext cx="30266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CF2FB"/>
                </a:solidFill>
                <a:latin typeface="DejaVu Sans"/>
              </a:defRPr>
            </a:pPr>
            <a:r>
              <a:t>main · каталог приложения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2057400"/>
            <a:ext cx="3246120" cy="960120"/>
          </a:xfrm>
          <a:prstGeom prst="rect">
            <a:avLst/>
          </a:prstGeom>
          <a:solidFill>
            <a:srgbClr val="14243A"/>
          </a:solidFill>
          <a:ln>
            <a:solidFill>
              <a:srgbClr val="31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2130552"/>
            <a:ext cx="30266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DAC0"/>
                </a:solidFill>
                <a:latin typeface="DejaVu Sans"/>
              </a:defRPr>
            </a:pPr>
            <a:r>
              <a:t>Argo 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496312"/>
            <a:ext cx="30266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CF2FB"/>
                </a:solidFill>
                <a:latin typeface="DejaVu Sans"/>
              </a:defRPr>
            </a:pPr>
            <a:r>
              <a:t>Сравнение и синхронизация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2057400"/>
            <a:ext cx="3246120" cy="960120"/>
          </a:xfrm>
          <a:prstGeom prst="rect">
            <a:avLst/>
          </a:prstGeom>
          <a:solidFill>
            <a:srgbClr val="14243A"/>
          </a:solidFill>
          <a:ln>
            <a:solidFill>
              <a:srgbClr val="31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2130552"/>
            <a:ext cx="30266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DAC0"/>
                </a:solidFill>
                <a:latin typeface="DejaVu Sans"/>
              </a:defRPr>
            </a:pPr>
            <a:r>
              <a:t>Kubernetes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496312"/>
            <a:ext cx="30266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CF2FB"/>
                </a:solidFill>
                <a:latin typeface="DejaVu Sans"/>
              </a:defRPr>
            </a:pPr>
            <a:r>
              <a:t>Применение манифестов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40480" y="2542032"/>
            <a:ext cx="594360" cy="0"/>
          </a:xfrm>
          <a:prstGeom prst="line">
            <a:avLst/>
          </a:prstGeom>
          <a:ln w="22860">
            <a:solidFill>
              <a:srgbClr val="52DA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80960" y="2542032"/>
            <a:ext cx="594360" cy="0"/>
          </a:xfrm>
          <a:prstGeom prst="line">
            <a:avLst/>
          </a:prstGeom>
          <a:ln w="22860">
            <a:solidFill>
              <a:srgbClr val="52DA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94360" y="3886200"/>
            <a:ext cx="3246120" cy="960120"/>
          </a:xfrm>
          <a:prstGeom prst="rect">
            <a:avLst/>
          </a:prstGeom>
          <a:solidFill>
            <a:srgbClr val="14243A"/>
          </a:solidFill>
          <a:ln>
            <a:solidFill>
              <a:srgbClr val="31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959352"/>
            <a:ext cx="30266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DAC0"/>
                </a:solidFill>
                <a:latin typeface="DejaVu Sans"/>
              </a:defRPr>
            </a:pPr>
            <a:r>
              <a:t>ConfigMap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325112"/>
            <a:ext cx="30266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CF2FB"/>
                </a:solidFill>
                <a:latin typeface="DejaVu Sans"/>
              </a:defRPr>
            </a:pPr>
            <a:r>
              <a:t>HTML со значением v1 / v2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3886200"/>
            <a:ext cx="3246120" cy="960120"/>
          </a:xfrm>
          <a:prstGeom prst="rect">
            <a:avLst/>
          </a:prstGeom>
          <a:solidFill>
            <a:srgbClr val="14243A"/>
          </a:solidFill>
          <a:ln>
            <a:solidFill>
              <a:srgbClr val="31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3959352"/>
            <a:ext cx="30266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DAC0"/>
                </a:solidFill>
                <a:latin typeface="DejaVu Sans"/>
              </a:defRPr>
            </a:pPr>
            <a:r>
              <a:t>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4325112"/>
            <a:ext cx="30266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CF2FB"/>
                </a:solidFill>
                <a:latin typeface="DejaVu Sans"/>
              </a:defRPr>
            </a:pPr>
            <a:r>
              <a:t>2 pod · BusyBox HTTP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3886200"/>
            <a:ext cx="3246120" cy="960120"/>
          </a:xfrm>
          <a:prstGeom prst="rect">
            <a:avLst/>
          </a:prstGeom>
          <a:solidFill>
            <a:srgbClr val="14243A"/>
          </a:solidFill>
          <a:ln>
            <a:solidFill>
              <a:srgbClr val="314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5048" y="3959352"/>
            <a:ext cx="302666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DAC0"/>
                </a:solidFill>
                <a:latin typeface="DejaVu Sans"/>
              </a:defRPr>
            </a:pPr>
            <a:r>
              <a:t>Service + MetalLB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4325112"/>
            <a:ext cx="30266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ECF2FB"/>
                </a:solidFill>
                <a:latin typeface="DejaVu Sans"/>
              </a:defRPr>
            </a:pPr>
            <a:r>
              <a:t>http://10.10.0.241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893808" y="3017520"/>
            <a:ext cx="0" cy="868680"/>
          </a:xfrm>
          <a:prstGeom prst="line">
            <a:avLst/>
          </a:prstGeom>
          <a:ln w="22860">
            <a:solidFill>
              <a:srgbClr val="52DA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840480" y="4370832"/>
            <a:ext cx="594360" cy="0"/>
          </a:xfrm>
          <a:prstGeom prst="line">
            <a:avLst/>
          </a:prstGeom>
          <a:ln w="22860">
            <a:solidFill>
              <a:srgbClr val="52DA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7680960" y="4370832"/>
            <a:ext cx="594360" cy="0"/>
          </a:xfrm>
          <a:prstGeom prst="line">
            <a:avLst/>
          </a:prstGeom>
          <a:ln w="22860">
            <a:solidFill>
              <a:srgbClr val="52DA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3152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2DAC0"/>
                </a:solidFill>
                <a:latin typeface="DejaVu Sans"/>
              </a:defRPr>
            </a:pPr>
            <a:r>
              <a:t>Путь: deploy/argocd/apps/airgap-demo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ADBDD2"/>
                </a:solidFill>
                <a:latin typeface="DejaVu Sans"/>
              </a:defRPr>
            </a:pPr>
            <a:r>
              <a:t>В стенде GitHub заменяет доступный внутренний Git, в том числе приватный.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DAC0"/>
                </a:solidFill>
                <a:latin typeface="DejaVu Sans"/>
              </a:defRPr>
            </a:pPr>
            <a:r>
              <a:t>10 / КОНЕЧНЫЙ СЕРВИС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CF2FB"/>
                </a:solidFill>
                <a:latin typeface="DejaVu Sans"/>
              </a:defRPr>
            </a:pPr>
            <a:r>
              <a:t>Демо: обычная HTTP-страница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DBDD2"/>
                </a:solidFill>
                <a:latin typeface="DejaVu Sans"/>
              </a:defRPr>
            </a:pPr>
            <a:r>
              <a:t>K8S AIRGAP  /  DEBIAN 12  /  KUBEADM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DAC0"/>
                </a:solidFill>
                <a:latin typeface="DejaVu San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52DAC0"/>
                </a:solidFill>
                <a:latin typeface="DejaVu Sans"/>
              </a:defRPr>
            </a:pPr>
            <a:r>
              <a:t>http://10.10.0.241</a:t>
            </a:r>
          </a:p>
        </p:txBody>
      </p:sp>
      <p:pic>
        <p:nvPicPr>
          <p:cNvPr id="7" name="Picture 6" descr="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06040"/>
            <a:ext cx="5212080" cy="3619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95160" y="2606040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ECF2FB"/>
                </a:solidFill>
                <a:latin typeface="DejaVu Sans"/>
              </a:defRPr>
            </a:pPr>
            <a:r>
              <a:t>Что демонстрируется</a:t>
            </a:r>
          </a:p>
          <a:p>
            <a:pPr>
              <a:spcAft>
                <a:spcPts val="1200"/>
              </a:spcAft>
              <a:defRPr sz="2100" b="0">
                <a:solidFill>
                  <a:srgbClr val="ECF2FB"/>
                </a:solidFill>
                <a:latin typeface="DejaVu Sans"/>
              </a:defRPr>
            </a:pPr>
          </a:p>
          <a:p>
            <a:pPr>
              <a:spcAft>
                <a:spcPts val="1200"/>
              </a:spcAft>
              <a:defRPr sz="2100" b="0">
                <a:solidFill>
                  <a:srgbClr val="ECF2FB"/>
                </a:solidFill>
                <a:latin typeface="DejaVu Sans"/>
              </a:defRPr>
            </a:pPr>
            <a:r>
              <a:t>• Две реплики приложения</a:t>
            </a:r>
          </a:p>
          <a:p>
            <a:pPr>
              <a:spcAft>
                <a:spcPts val="1200"/>
              </a:spcAft>
              <a:defRPr sz="2100" b="0">
                <a:solidFill>
                  <a:srgbClr val="ECF2FB"/>
                </a:solidFill>
                <a:latin typeface="DejaVu Sans"/>
              </a:defRPr>
            </a:pPr>
            <a:r>
              <a:t>• Образ из Harbor</a:t>
            </a:r>
          </a:p>
          <a:p>
            <a:pPr>
              <a:spcAft>
                <a:spcPts val="1200"/>
              </a:spcAft>
              <a:defRPr sz="2100" b="0">
                <a:solidFill>
                  <a:srgbClr val="ECF2FB"/>
                </a:solidFill>
                <a:latin typeface="DejaVu Sans"/>
              </a:defRPr>
            </a:pPr>
            <a:r>
              <a:t>• HTML из ConfigMap</a:t>
            </a:r>
          </a:p>
          <a:p>
            <a:pPr>
              <a:spcAft>
                <a:spcPts val="1200"/>
              </a:spcAft>
              <a:defRPr sz="2100" b="0">
                <a:solidFill>
                  <a:srgbClr val="ECF2FB"/>
                </a:solidFill>
                <a:latin typeface="DejaVu Sans"/>
              </a:defRPr>
            </a:pPr>
            <a:r>
              <a:t>• Публикация через MetalLB</a:t>
            </a:r>
          </a:p>
          <a:p>
            <a:pPr>
              <a:spcAft>
                <a:spcPts val="1200"/>
              </a:spcAft>
              <a:defRPr sz="2100" b="0">
                <a:solidFill>
                  <a:srgbClr val="ECF2FB"/>
                </a:solidFill>
                <a:latin typeface="DejaVu Sans"/>
              </a:defRPr>
            </a:pPr>
            <a:r>
              <a:t>• Изменение через Argo CD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DAC0"/>
                </a:solidFill>
                <a:latin typeface="DejaVu Sans"/>
              </a:defRPr>
            </a:pPr>
            <a:r>
              <a:t>11 / ПРОВЕРКА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CF2FB"/>
                </a:solidFill>
                <a:latin typeface="DejaVu Sans"/>
              </a:defRPr>
            </a:pPr>
            <a:r>
              <a:t>Проверка с инфраструктурного хоста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DBDD2"/>
                </a:solidFill>
                <a:latin typeface="DejaVu Sans"/>
              </a:defRPr>
            </a:pPr>
            <a:r>
              <a:t>K8S AIRGAP  /  DEBIAN 12  /  KUBEADM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DAC0"/>
                </a:solidFill>
                <a:latin typeface="DejaVu San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2DAC0"/>
                </a:solidFill>
                <a:latin typeface="DejaVu Sans"/>
              </a:defRPr>
            </a:pPr>
            <a:r>
              <a:t>Argo 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965960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F2FB"/>
                </a:solidFill>
                <a:latin typeface="DejaVu Sans"/>
              </a:defRPr>
            </a:pPr>
            <a:r>
              <a:t>http://10.10.0.240 → airgap-demo → Synced / Healthy и дерево ресурсов.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90088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2DAC0"/>
                </a:solidFill>
                <a:latin typeface="DejaVu Sans"/>
              </a:defRPr>
            </a:pPr>
            <a:r>
              <a:t>Kubernetes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990088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F2FB"/>
                </a:solidFill>
                <a:latin typeface="DejaVu Sans"/>
              </a:defRPr>
            </a:pPr>
            <a:r>
              <a:t>kubectl -n demo get pods,svc: два Ready pod и внешний IP 10.10.0.241.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14216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2DAC0"/>
                </a:solidFill>
                <a:latin typeface="DejaVu Sans"/>
              </a:defRPr>
            </a:pPr>
            <a:r>
              <a:t>HTTP-сервис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014216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F2FB"/>
                </a:solidFill>
                <a:latin typeface="DejaVu Sans"/>
              </a:defRPr>
            </a:pPr>
            <a:r>
              <a:t>http://10.10.0.241: страница v1. curl должен вернуть HTTP 200.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38344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2DAC0"/>
                </a:solidFill>
                <a:latin typeface="DejaVu Sans"/>
              </a:defRPr>
            </a:pPr>
            <a:r>
              <a:t>Grafana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038344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F2FB"/>
                </a:solidFill>
                <a:latin typeface="DejaVu Sans"/>
              </a:defRPr>
            </a:pPr>
            <a:r>
              <a:t>Thanos: kube_deployment_status_replicas_available для namespace demo = 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DAC0"/>
                </a:solidFill>
                <a:latin typeface="DejaVu Sans"/>
              </a:defRPr>
            </a:pPr>
            <a:r>
              <a:t>12 / GITOPS В ДЕЙСТВИИ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CF2FB"/>
                </a:solidFill>
                <a:latin typeface="DejaVu Sans"/>
              </a:defRPr>
            </a:pPr>
            <a:r>
              <a:t>Демонстрация обновления приложения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DBDD2"/>
                </a:solidFill>
                <a:latin typeface="DejaVu Sans"/>
              </a:defRPr>
            </a:pPr>
            <a:r>
              <a:t>K8S AIRGAP  /  DEBIAN 12  /  KUBEADM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DAC0"/>
                </a:solidFill>
                <a:latin typeface="DejaVu San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2DAC0"/>
                </a:solidFill>
                <a:latin typeface="DejaVu Sans"/>
              </a:defRPr>
            </a:pPr>
            <a:r>
              <a:t>1. Изменение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965960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F2FB"/>
                </a:solidFill>
                <a:latin typeface="DejaVu Sans"/>
              </a:defRPr>
            </a:pPr>
            <a:r>
              <a:t>В ConfigMap меняется текст версии v1 → v2.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90088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2DAC0"/>
                </a:solidFill>
                <a:latin typeface="DejaVu Sans"/>
              </a:defRPr>
            </a:pPr>
            <a:r>
              <a:t>2. Публикация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990088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F2FB"/>
                </a:solidFill>
                <a:latin typeface="DejaVu Sans"/>
              </a:defRPr>
            </a:pPr>
            <a:r>
              <a:t>Commit и push в main. Локальное изменение без push Argo CD не видит.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14216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2DAC0"/>
                </a:solidFill>
                <a:latin typeface="DejaVu Sans"/>
              </a:defRPr>
            </a:pPr>
            <a:r>
              <a:t>3. Синхронизация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014216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F2FB"/>
                </a:solidFill>
                <a:latin typeface="DejaVu Sans"/>
              </a:defRPr>
            </a:pPr>
            <a:r>
              <a:t>Refresh Application. Argo CD получает новую ревизию и применяет ConfigMap.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38344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52DAC0"/>
                </a:solidFill>
                <a:latin typeface="DejaVu Sans"/>
              </a:defRPr>
            </a:pPr>
            <a:r>
              <a:t>4. Результат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038344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ECF2FB"/>
                </a:solidFill>
                <a:latin typeface="DejaVu Sans"/>
              </a:defRPr>
            </a:pPr>
            <a:r>
              <a:t>После обновления ConfigMap-volume браузер показывает v2 без ручного kubectl apply приложения.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DAC0"/>
                </a:solidFill>
                <a:latin typeface="DejaVu Sans"/>
              </a:defRPr>
            </a:pPr>
            <a:r>
              <a:t>13 / ИТОГИ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ECF2FB"/>
                </a:solidFill>
                <a:latin typeface="DejaVu Sans"/>
              </a:defRPr>
            </a:pPr>
            <a:r>
              <a:t>Результат и границы решения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5566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ADBDD2"/>
                </a:solidFill>
                <a:latin typeface="DejaVu Sans"/>
              </a:defRPr>
            </a:pPr>
            <a:r>
              <a:t>K8S AIRGAP  /  DEBIAN 12  /  KUBEADM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DAC0"/>
                </a:solidFill>
                <a:latin typeface="DejaVu San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52DAC0"/>
                </a:solidFill>
                <a:latin typeface="DejaVu Sans"/>
              </a:defRPr>
            </a:pPr>
            <a:r>
              <a:t>Получено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ECF2FB"/>
                </a:solidFill>
                <a:latin typeface="DejaVu Sans"/>
              </a:defRPr>
            </a:pPr>
            <a:r>
              <a:t>Воспроизводимая установка Kubernetes</a:t>
            </a:r>
          </a:p>
          <a:p>
            <a:pPr>
              <a:spcAft>
                <a:spcPts val="1200"/>
              </a:spcAft>
              <a:defRPr sz="2200" b="0">
                <a:solidFill>
                  <a:srgbClr val="ECF2FB"/>
                </a:solidFill>
                <a:latin typeface="DejaVu Sans"/>
              </a:defRPr>
            </a:pPr>
            <a:r>
              <a:t>Локальные артефакты и registry</a:t>
            </a:r>
          </a:p>
          <a:p>
            <a:pPr>
              <a:spcAft>
                <a:spcPts val="1200"/>
              </a:spcAft>
              <a:defRPr sz="2200" b="0">
                <a:solidFill>
                  <a:srgbClr val="ECF2FB"/>
                </a:solidFill>
                <a:latin typeface="DejaVu Sans"/>
              </a:defRPr>
            </a:pPr>
            <a:r>
              <a:t>Метрики в Grafana и Thanos</a:t>
            </a:r>
          </a:p>
          <a:p>
            <a:pPr>
              <a:spcAft>
                <a:spcPts val="1200"/>
              </a:spcAft>
              <a:defRPr sz="2200" b="0">
                <a:solidFill>
                  <a:srgbClr val="ECF2FB"/>
                </a:solidFill>
                <a:latin typeface="DejaVu Sans"/>
              </a:defRPr>
            </a:pPr>
            <a:r>
              <a:t>Приложение и обновление через GitOps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52DAC0"/>
                </a:solidFill>
                <a:latin typeface="DejaVu Sans"/>
              </a:defRPr>
            </a:pPr>
            <a:r>
              <a:t>Условия стенда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78892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ECF2FB"/>
                </a:solidFill>
                <a:latin typeface="DejaVu Sans"/>
              </a:defRPr>
            </a:pPr>
            <a:r>
              <a:t>Инфраструктура подготовлена заранее</a:t>
            </a:r>
          </a:p>
          <a:p>
            <a:pPr>
              <a:spcAft>
                <a:spcPts val="1200"/>
              </a:spcAft>
              <a:defRPr sz="2200" b="0">
                <a:solidFill>
                  <a:srgbClr val="ECF2FB"/>
                </a:solidFill>
                <a:latin typeface="DejaVu Sans"/>
              </a:defRPr>
            </a:pPr>
            <a:r>
              <a:t>APT и Git эмулируют внутренние сервисы</a:t>
            </a:r>
          </a:p>
          <a:p>
            <a:pPr>
              <a:spcAft>
                <a:spcPts val="1200"/>
              </a:spcAft>
              <a:defRPr sz="2200" b="0">
                <a:solidFill>
                  <a:srgbClr val="ECF2FB"/>
                </a:solidFill>
                <a:latin typeface="DejaVu Sans"/>
              </a:defRPr>
            </a:pPr>
            <a:r>
              <a:t>Один инфраструктурный хост</a:t>
            </a:r>
          </a:p>
          <a:p>
            <a:pPr>
              <a:spcAft>
                <a:spcPts val="1200"/>
              </a:spcAft>
              <a:defRPr sz="2200" b="0">
                <a:solidFill>
                  <a:srgbClr val="ECF2FB"/>
                </a:solidFill>
                <a:latin typeface="DejaVu Sans"/>
              </a:defRPr>
            </a:pPr>
            <a:r>
              <a:t>Локальные тома без репликации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